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EC2B7-5603-E847-9CCD-B17BCD70217C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AB055-8057-8042-A9DC-340E25EB4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2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9631D5-4CBA-B958-66E5-1D06CE60A685}"/>
              </a:ext>
            </a:extLst>
          </p:cNvPr>
          <p:cNvSpPr/>
          <p:nvPr/>
        </p:nvSpPr>
        <p:spPr>
          <a:xfrm>
            <a:off x="457200" y="1110996"/>
            <a:ext cx="11277600" cy="463600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E59B00B-2A72-3526-46B5-2D31EFBA1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53AC4E3-F9DF-C029-69FF-01D7C04DE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70" y="6031065"/>
            <a:ext cx="9144000" cy="54864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D47A7DF-A880-1D22-F809-631CB36C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520" y="430684"/>
            <a:ext cx="4114800" cy="365125"/>
          </a:xfrm>
        </p:spPr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9645FC2-7E06-2307-2D7B-2B52E501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9450" y="430684"/>
            <a:ext cx="2743200" cy="365125"/>
          </a:xfrm>
        </p:spPr>
        <p:txBody>
          <a:bodyPr/>
          <a:lstStyle/>
          <a:p>
            <a:fld id="{C6B4DC52-CC44-D647-BBB1-762854F4657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CE0142-6727-D96E-8B4C-F8DC42F3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>
            <a:lvl1pPr algn="r">
              <a:defRPr/>
            </a:lvl1pPr>
          </a:lstStyle>
          <a:p>
            <a:pPr algn="r"/>
            <a:fld id="{40B778AE-8D30-EC43-B255-420E7914C179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11" name="Picture 10" descr="A lemons on a branch&#10;&#10;AI-generated content may be incorrect.">
            <a:extLst>
              <a:ext uri="{FF2B5EF4-FFF2-40B4-BE49-F238E27FC236}">
                <a16:creationId xmlns:a16="http://schemas.microsoft.com/office/drawing/2014/main" id="{617993DE-FCA3-752E-CB4D-EE0CBE74D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94"/>
          <a:stretch>
            <a:fillRect/>
          </a:stretch>
        </p:blipFill>
        <p:spPr>
          <a:xfrm>
            <a:off x="6251965" y="1110995"/>
            <a:ext cx="5482836" cy="463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2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100584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4480"/>
            <a:ext cx="11274552" cy="429768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59F-16CF-294B-89B0-023DBFDF062C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52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C43E3D-F1B4-8814-CBFD-54B6394BA78F}"/>
              </a:ext>
            </a:extLst>
          </p:cNvPr>
          <p:cNvSpPr/>
          <p:nvPr/>
        </p:nvSpPr>
        <p:spPr>
          <a:xfrm>
            <a:off x="0" y="0"/>
            <a:ext cx="12192000" cy="407202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480560"/>
            <a:ext cx="11274552" cy="9969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532535"/>
            <a:ext cx="11274552" cy="5486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1"/>
            <a:ext cx="11274552" cy="3111499"/>
          </a:xfr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9749300-EB7F-2826-88A0-CB3E4B36C03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C0BE1CD-8E53-8DE9-82CF-9813E2925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85CE52D-B630-4803-B6B1-978CBC39E2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2FA9DB-1C23-8847-8157-4FA9725CC381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902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187BAA-B8F3-6F9A-35D6-79C20A14A9DC}"/>
              </a:ext>
            </a:extLst>
          </p:cNvPr>
          <p:cNvSpPr/>
          <p:nvPr/>
        </p:nvSpPr>
        <p:spPr>
          <a:xfrm>
            <a:off x="5090160" y="-1"/>
            <a:ext cx="710184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7" y="548640"/>
            <a:ext cx="4175760" cy="3657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492488"/>
            <a:ext cx="4175760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3C3368D-40FA-88E5-2622-5C794E187D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ABA8E-1A54-1C96-093B-B44E62007A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9077" y="6126480"/>
            <a:ext cx="210312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7656-FDD0-1CCB-57C9-0B3A32C50C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006709" y="6126480"/>
            <a:ext cx="1626250" cy="365125"/>
          </a:xfrm>
        </p:spPr>
        <p:txBody>
          <a:bodyPr/>
          <a:lstStyle/>
          <a:p>
            <a:fld id="{84E3F07D-7317-3440-A531-3AA29DD45979}" type="datetime1">
              <a:rPr lang="en-US" smtClean="0"/>
              <a:t>8/24/2026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7360" y="457200"/>
            <a:ext cx="6187440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048527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02DD718-F017-AE4C-FB9F-B4557EA33522}"/>
              </a:ext>
            </a:extLst>
          </p:cNvPr>
          <p:cNvSpPr/>
          <p:nvPr/>
        </p:nvSpPr>
        <p:spPr>
          <a:xfrm>
            <a:off x="0" y="-1"/>
            <a:ext cx="71628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2618" y="457200"/>
            <a:ext cx="4112182" cy="432031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2618" y="4870174"/>
            <a:ext cx="4114800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57200" y="457200"/>
            <a:ext cx="623625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746577E-8831-2287-F882-043365FBE3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630823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78256CB-DBBA-7F98-5D6E-65BAC308069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28420" y="6126480"/>
            <a:ext cx="2717314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7DDC16-6E73-6885-8380-0E401292C0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45734" y="6126480"/>
            <a:ext cx="991684" cy="365125"/>
          </a:xfrm>
        </p:spPr>
        <p:txBody>
          <a:bodyPr/>
          <a:lstStyle/>
          <a:p>
            <a:fld id="{28CD2E8A-C0A9-4347-A584-9C026C30AB40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71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0246537-4B75-474B-2A12-4A3572BEA2EC}"/>
              </a:ext>
            </a:extLst>
          </p:cNvPr>
          <p:cNvSpPr/>
          <p:nvPr/>
        </p:nvSpPr>
        <p:spPr>
          <a:xfrm>
            <a:off x="0" y="-1"/>
            <a:ext cx="7315200" cy="6858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0584" y="457200"/>
            <a:ext cx="4114800" cy="379972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0581" y="4403039"/>
            <a:ext cx="3959352" cy="146304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6400800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F15057E-7A11-B5DB-0534-D815398664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77611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74E8DD-5B33-6D4C-0DDF-CB27D8491E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173715" y="6126480"/>
            <a:ext cx="2522862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DF415EC-0AD6-6198-0FC5-D47053F2FBF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81835" y="6126480"/>
            <a:ext cx="948098" cy="365125"/>
          </a:xfrm>
        </p:spPr>
        <p:txBody>
          <a:bodyPr/>
          <a:lstStyle/>
          <a:p>
            <a:fld id="{B2E8E543-FE9A-4843-9AB8-691F5895E16D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739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95BD72-5536-F3FE-33EF-8633D55A2D61}"/>
              </a:ext>
            </a:extLst>
          </p:cNvPr>
          <p:cNvSpPr/>
          <p:nvPr/>
        </p:nvSpPr>
        <p:spPr>
          <a:xfrm>
            <a:off x="468772" y="1155432"/>
            <a:ext cx="11274552" cy="425388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059B19-9CED-B375-2B62-A6035F09E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724" y="5656357"/>
            <a:ext cx="11274552" cy="935512"/>
          </a:xfrm>
        </p:spPr>
        <p:txBody>
          <a:bodyPr anchor="ctr" anchorCtr="0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7984-A4B6-F007-847A-B07D938E6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1329" y="365760"/>
            <a:ext cx="8349343" cy="54070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 cap="all" spc="1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3C01443A-552D-4FF4-DE2A-271C95288DF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56459" y="1155432"/>
            <a:ext cx="4279082" cy="459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65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1DE5E9-85A8-0FC5-7F43-2E0EABF782DF}"/>
              </a:ext>
            </a:extLst>
          </p:cNvPr>
          <p:cNvSpPr/>
          <p:nvPr/>
        </p:nvSpPr>
        <p:spPr>
          <a:xfrm>
            <a:off x="457200" y="457199"/>
            <a:ext cx="4092338" cy="59436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0CA3D-7603-670A-D8C7-708AE9FA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198" y="1711444"/>
            <a:ext cx="6858001" cy="492977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11682ED-44B0-7547-E137-F0B1DA936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383629"/>
            <a:ext cx="3899647" cy="97715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cap="all" spc="100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pic>
        <p:nvPicPr>
          <p:cNvPr id="6" name="Picture 5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15BE8FF9-7851-AB46-405F-0AA70A4B66A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613" t="-1" b="-3044"/>
          <a:stretch>
            <a:fillRect/>
          </a:stretch>
        </p:blipFill>
        <p:spPr>
          <a:xfrm>
            <a:off x="457200" y="460148"/>
            <a:ext cx="4710576" cy="639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74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457198"/>
            <a:ext cx="5140452" cy="619963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A4AE76-095C-A207-5846-53F5F689F718}"/>
              </a:ext>
            </a:extLst>
          </p:cNvPr>
          <p:cNvSpPr/>
          <p:nvPr/>
        </p:nvSpPr>
        <p:spPr>
          <a:xfrm>
            <a:off x="6096000" y="457200"/>
            <a:ext cx="5617029" cy="59436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lemons on a branch with blue leaves&#10;&#10;AI-generated content may be incorrect.">
            <a:extLst>
              <a:ext uri="{FF2B5EF4-FFF2-40B4-BE49-F238E27FC236}">
                <a16:creationId xmlns:a16="http://schemas.microsoft.com/office/drawing/2014/main" id="{65E78305-C5E3-6063-CB40-26C0D5E0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553" y="457194"/>
            <a:ext cx="7277476" cy="594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85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798790"/>
            <a:ext cx="6400800" cy="1247197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03520" y="2557825"/>
            <a:ext cx="6400800" cy="3185025"/>
          </a:xfrm>
        </p:spPr>
        <p:txBody>
          <a:bodyPr anchor="b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F1D5-6C74-2344-B02C-988BD7DE505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81EAF-576F-9050-A03B-54F899B4C07A}"/>
              </a:ext>
            </a:extLst>
          </p:cNvPr>
          <p:cNvSpPr/>
          <p:nvPr/>
        </p:nvSpPr>
        <p:spPr>
          <a:xfrm>
            <a:off x="411481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lemon on a branch&#10;&#10;AI-generated content may be incorrect.">
            <a:extLst>
              <a:ext uri="{FF2B5EF4-FFF2-40B4-BE49-F238E27FC236}">
                <a16:creationId xmlns:a16="http://schemas.microsoft.com/office/drawing/2014/main" id="{C7EE14FD-1F7E-7416-B121-07AC7950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54" y="557784"/>
            <a:ext cx="479807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53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5F09020-BF03-712A-9029-505DB1E628D4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3749040" cy="283464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0568" y="914399"/>
            <a:ext cx="6126480" cy="4480560"/>
          </a:xfrm>
        </p:spPr>
        <p:txBody>
          <a:bodyPr anchor="t" anchorCtr="0"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180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60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40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26B5E-0855-9440-AA3D-7D15E0A5A0A9}" type="datetime1">
              <a:rPr lang="en-US" smtClean="0"/>
              <a:t>8/24/2026</a:t>
            </a:fld>
            <a:endParaRPr lang="en-US"/>
          </a:p>
        </p:txBody>
      </p:sp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8C201F69-ACDC-EC3F-66B0-D7107872DC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69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DB4B979-1FB0-5E72-46AC-50BC7CFE6907}"/>
              </a:ext>
            </a:extLst>
          </p:cNvPr>
          <p:cNvSpPr/>
          <p:nvPr/>
        </p:nvSpPr>
        <p:spPr>
          <a:xfrm>
            <a:off x="0" y="-1"/>
            <a:ext cx="457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23" y="914400"/>
            <a:ext cx="6126480" cy="1188720"/>
          </a:xfrm>
        </p:spPr>
        <p:txBody>
          <a:bodyPr anchor="t" anchorCtr="0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7200" y="457200"/>
            <a:ext cx="3657600" cy="59436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45224" y="2468880"/>
            <a:ext cx="6126480" cy="3436789"/>
          </a:xfrm>
        </p:spPr>
        <p:txBody>
          <a:bodyPr>
            <a:normAutofit/>
          </a:bodyPr>
          <a:lstStyle>
            <a:lvl1pPr marL="0" indent="-320040">
              <a:spcBef>
                <a:spcPts val="1800"/>
              </a:spcBef>
              <a:buFont typeface="+mj-lt"/>
              <a:buAutoNum type="arabicPeriod"/>
              <a:defRPr sz="2000" baseline="0"/>
            </a:lvl1pPr>
            <a:lvl2pPr marL="457200" indent="-320040">
              <a:spcBef>
                <a:spcPts val="1800"/>
              </a:spcBef>
              <a:buFont typeface="+mj-lt"/>
              <a:buAutoNum type="arabicPeriod"/>
              <a:defRPr sz="1800" baseline="0"/>
            </a:lvl2pPr>
            <a:lvl3pPr marL="685800" indent="-320040">
              <a:spcBef>
                <a:spcPts val="1800"/>
              </a:spcBef>
              <a:buFont typeface="+mj-lt"/>
              <a:buAutoNum type="arabicPeriod"/>
              <a:defRPr sz="1600" baseline="0"/>
            </a:lvl3pPr>
            <a:lvl4pPr marL="804672" indent="-320040">
              <a:spcBef>
                <a:spcPts val="1800"/>
              </a:spcBef>
              <a:buFont typeface="+mj-lt"/>
              <a:buAutoNum type="arabicPeriod"/>
              <a:defRPr sz="1400" baseline="0"/>
            </a:lvl4pPr>
            <a:lvl5pPr marL="1024128" indent="-320040">
              <a:spcBef>
                <a:spcPts val="1800"/>
              </a:spcBef>
              <a:buFont typeface="+mj-lt"/>
              <a:buAutoNum type="arabicPeriod"/>
              <a:defRPr sz="140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2F12806-9D4B-B331-8FBA-9E389069CF3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050561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D280FE9-C0C5-BEEF-1C01-F53C19D152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48158" y="6126480"/>
            <a:ext cx="4114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13CDBE3-275E-E9FB-D64A-5856C14B07C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29874" y="6126480"/>
            <a:ext cx="1328185" cy="365125"/>
          </a:xfrm>
        </p:spPr>
        <p:txBody>
          <a:bodyPr/>
          <a:lstStyle/>
          <a:p>
            <a:fld id="{20EA976F-543A-3147-8F10-92D90F1FB7DE}" type="datetime1">
              <a:rPr lang="en-US" smtClean="0"/>
              <a:t>8/24/2026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61A4B5C7-FD62-4D7D-A791-54AB1ABC8C5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64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335364"/>
            <a:ext cx="4659735" cy="1645198"/>
          </a:xfrm>
        </p:spPr>
        <p:txBody>
          <a:bodyPr/>
          <a:lstStyle>
            <a:lvl1pPr marL="0" indent="0" algn="ctr">
              <a:buNone/>
              <a:defRPr sz="1400"/>
            </a:lvl1pPr>
            <a:lvl2pPr marL="228600" indent="0" algn="ctr">
              <a:buNone/>
              <a:defRPr sz="1400"/>
            </a:lvl2pPr>
            <a:lvl3pPr marL="457200" indent="0" algn="ctr">
              <a:buNone/>
              <a:defRPr sz="1400"/>
            </a:lvl3pPr>
            <a:lvl4pPr marL="685800" indent="0" algn="ctr">
              <a:buNone/>
              <a:defRPr sz="1400"/>
            </a:lvl4pPr>
            <a:lvl5pPr marL="91440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2A3C-8A73-964C-A7B1-9C66EB8F456D}" type="datetime1">
              <a:rPr lang="en-US" smtClean="0"/>
              <a:t>8/24/2026</a:t>
            </a:fld>
            <a:endParaRPr lang="en-US"/>
          </a:p>
        </p:txBody>
      </p:sp>
      <p:pic>
        <p:nvPicPr>
          <p:cNvPr id="11" name="Picture 10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ED6ACC6-8535-9138-3CC3-23292E127C1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3" name="Picture 12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9891E051-0BB5-0815-2DD6-BBEBCE6037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4" name="Picture 1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B2C36771-C253-85DB-E144-61D9EB19FC8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72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-2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86283C0-8ECE-D2EA-E5E3-6F15CF154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4234" y="1315451"/>
            <a:ext cx="3163825" cy="18889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60872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58469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19106" y="274320"/>
            <a:ext cx="938954" cy="365125"/>
          </a:xfrm>
        </p:spPr>
        <p:txBody>
          <a:bodyPr/>
          <a:lstStyle/>
          <a:p>
            <a:fld id="{16BEDD57-7FB0-8C49-978A-2E5AD4193CAB}" type="datetime1">
              <a:rPr lang="en-US" smtClean="0"/>
              <a:t>8/24/2026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7DC67AD-3301-6431-3E36-B83AA13337B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0" y="3335363"/>
            <a:ext cx="3162699" cy="2372709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close up of a blue and yellow leaf&#10;&#10;AI-generated content may be incorrect.">
            <a:extLst>
              <a:ext uri="{FF2B5EF4-FFF2-40B4-BE49-F238E27FC236}">
                <a16:creationId xmlns:a16="http://schemas.microsoft.com/office/drawing/2014/main" id="{F4AA3198-0DF5-E044-FEBD-0A08E92D51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62919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29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902447-E63B-C699-1F10-66D1D40394D0}"/>
              </a:ext>
            </a:extLst>
          </p:cNvPr>
          <p:cNvSpPr/>
          <p:nvPr/>
        </p:nvSpPr>
        <p:spPr>
          <a:xfrm>
            <a:off x="4053840" y="0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F807023-B064-9646-E49E-9AEF600F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15453"/>
            <a:ext cx="3163824" cy="1888923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3249" y="274320"/>
            <a:ext cx="36576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0846" y="274320"/>
            <a:ext cx="18288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9646" y="274320"/>
            <a:ext cx="970791" cy="365125"/>
          </a:xfrm>
        </p:spPr>
        <p:txBody>
          <a:bodyPr/>
          <a:lstStyle/>
          <a:p>
            <a:fld id="{3398BDEE-7079-9E46-9D3D-C026D74D657A}" type="datetime1">
              <a:rPr lang="en-US" smtClean="0"/>
              <a:t>8/24/2026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2635AD-DF42-C262-C20D-FDB7B411625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335364"/>
            <a:ext cx="3163824" cy="31070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ADF17735-1EF3-3E8F-EE23-73AE24B0CF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15" r="9359" b="30270"/>
          <a:stretch>
            <a:fillRect/>
          </a:stretch>
        </p:blipFill>
        <p:spPr>
          <a:xfrm>
            <a:off x="3795759" y="0"/>
            <a:ext cx="83962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600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1731332"/>
            <a:ext cx="3493858" cy="34568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727014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DA1B6-7262-A14C-9D8B-572C17D5CCAA}" type="datetime1">
              <a:rPr lang="en-US" smtClean="0"/>
              <a:t>8/24/2026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3359F0E-3165-F69F-DECE-2D1FB68E174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55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3923455" cy="40835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914400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B914E-727D-924F-AF8C-57D7CD572093}" type="datetime1">
              <a:rPr lang="en-US" smtClean="0"/>
              <a:t>8/24/2026</a:t>
            </a:fld>
            <a:endParaRPr lang="en-US"/>
          </a:p>
        </p:txBody>
      </p:sp>
      <p:pic>
        <p:nvPicPr>
          <p:cNvPr id="3" name="Picture 2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A830C04B-A250-7A15-C730-C6A3AFCB9C1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5175848" y="5943599"/>
            <a:ext cx="416052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220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617" y="731520"/>
            <a:ext cx="8658766" cy="1005840"/>
          </a:xfrm>
        </p:spPr>
        <p:txBody>
          <a:bodyPr anchor="b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1AD03-5543-5055-E5F3-2C2E7AF4A6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653413" y="1995858"/>
            <a:ext cx="6884668" cy="3739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8492AF-A293-67AC-351D-6F8D2EE5A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A12EA25-588C-6976-3F71-17F5A88C9A2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8EAD482-3B0C-B1C6-EDE0-9F5AD7972C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0565B3-CF1A-E942-97FF-0B9F398F7855}" type="datetime1">
              <a:rPr lang="en-US" smtClean="0"/>
              <a:t>8/24/2026</a:t>
            </a:fld>
            <a:endParaRPr lang="en-US"/>
          </a:p>
        </p:txBody>
      </p:sp>
      <p:pic>
        <p:nvPicPr>
          <p:cNvPr id="3" name="Picture 2" descr="A blue leafy plant&#10;&#10;AI-generated content may be incorrect.">
            <a:extLst>
              <a:ext uri="{FF2B5EF4-FFF2-40B4-BE49-F238E27FC236}">
                <a16:creationId xmlns:a16="http://schemas.microsoft.com/office/drawing/2014/main" id="{7514231A-DFF9-EEC8-7FD8-6D51A7E9FF6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9" name="Picture 8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A6D137FE-2907-46A6-B35B-5A4CAE628A4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  <p:pic>
        <p:nvPicPr>
          <p:cNvPr id="15" name="Picture 14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04E727C6-2D47-C987-AC9F-2BBBF965423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1893" y="301334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9115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1"/>
            <a:ext cx="3992880" cy="2514599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00600" y="914400"/>
            <a:ext cx="6957460" cy="49406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40358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A344-177D-9B4D-B4B5-DB629B3B0E97}" type="datetime1">
              <a:rPr lang="en-US" smtClean="0"/>
              <a:t>8/24/2026</a:t>
            </a:fld>
            <a:endParaRPr lang="en-US"/>
          </a:p>
        </p:txBody>
      </p:sp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15D9329-8404-8FB6-440F-E9849300BAE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307"/>
          <a:stretch>
            <a:fillRect/>
          </a:stretch>
        </p:blipFill>
        <p:spPr>
          <a:xfrm rot="16200000">
            <a:off x="2766204" y="5165090"/>
            <a:ext cx="2052320" cy="1333500"/>
          </a:xfrm>
          <a:prstGeom prst="rect">
            <a:avLst/>
          </a:prstGeom>
        </p:spPr>
      </p:pic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583DC239-1B91-3F75-7E85-D0A752FB004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3595299">
            <a:off x="1217794" y="4109349"/>
            <a:ext cx="2058669" cy="103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91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lemons on a branch with leaves&#10;&#10;AI-generated content may be incorrect.">
            <a:extLst>
              <a:ext uri="{FF2B5EF4-FFF2-40B4-BE49-F238E27FC236}">
                <a16:creationId xmlns:a16="http://schemas.microsoft.com/office/drawing/2014/main" id="{292A7410-B2FC-D132-8D8C-4AF1B507056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66" t="289" r="43489" b="8672"/>
          <a:stretch>
            <a:fillRect/>
          </a:stretch>
        </p:blipFill>
        <p:spPr>
          <a:xfrm>
            <a:off x="8120743" y="0"/>
            <a:ext cx="407125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109728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9" y="1828800"/>
            <a:ext cx="7315199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99251" y="6126480"/>
            <a:ext cx="2073147" cy="365125"/>
          </a:xfrm>
        </p:spPr>
        <p:txBody>
          <a:bodyPr/>
          <a:lstStyle/>
          <a:p>
            <a:fld id="{5A7A0291-FBD7-2345-9C81-5FC586A6DB9E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0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D6C8C-4A02-004B-93D7-C0DBD4026299}" type="datetime1">
              <a:rPr lang="en-US" smtClean="0"/>
              <a:t>8/24/2026</a:t>
            </a:fld>
            <a:endParaRPr lang="en-US"/>
          </a:p>
        </p:txBody>
      </p:sp>
      <p:pic>
        <p:nvPicPr>
          <p:cNvPr id="7" name="Picture 6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E136570-804C-5DD0-226A-419BDFE8968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5479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DBE0D0-60D9-A8DD-819A-4EC6098596AA}"/>
              </a:ext>
            </a:extLst>
          </p:cNvPr>
          <p:cNvSpPr/>
          <p:nvPr/>
        </p:nvSpPr>
        <p:spPr>
          <a:xfrm>
            <a:off x="0" y="-1"/>
            <a:ext cx="81381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A90C2D-E9F9-B5AC-3789-289AA8EF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327" y="642192"/>
            <a:ext cx="3172968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66327" y="3011335"/>
            <a:ext cx="316253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6C8A42-D773-E384-D003-FF92C7D3D7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573862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662C323-6B9B-80DF-EF74-D99250EE920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971459" y="6126480"/>
            <a:ext cx="1934123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6DB1-F652-6E69-77F4-F055AD2AF6F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792496" y="6126480"/>
            <a:ext cx="965564" cy="365125"/>
          </a:xfrm>
        </p:spPr>
        <p:txBody>
          <a:bodyPr/>
          <a:lstStyle/>
          <a:p>
            <a:fld id="{954F3EE5-5A62-1142-B29B-2D79B0DFBB49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60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F29CE5-A8CD-ED9A-7F5A-693443689EAB}"/>
              </a:ext>
            </a:extLst>
          </p:cNvPr>
          <p:cNvSpPr/>
          <p:nvPr/>
        </p:nvSpPr>
        <p:spPr>
          <a:xfrm>
            <a:off x="4145280" y="-1"/>
            <a:ext cx="80467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2F1C8EF-0052-4E1D-ADC9-E3E4FD32E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55" y="642192"/>
            <a:ext cx="3274169" cy="2139696"/>
          </a:xfrm>
        </p:spPr>
        <p:txBody>
          <a:bodyPr anchor="b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011335"/>
            <a:ext cx="3274169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33EBD6B-DFDB-0D0B-252B-324DA354BF4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97FC8F1-C8AE-5332-F165-13ED9003CB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18954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DB703-6F6B-3A91-C03F-5AA8FECF96D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4563" y="6126480"/>
            <a:ext cx="1033988" cy="365125"/>
          </a:xfrm>
        </p:spPr>
        <p:txBody>
          <a:bodyPr/>
          <a:lstStyle/>
          <a:p>
            <a:fld id="{72C7549D-B911-DC4D-9096-0244F27A5122}" type="datetime1">
              <a:rPr lang="en-US" smtClean="0"/>
              <a:t>8/24/2026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0" y="457200"/>
            <a:ext cx="7216147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062665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3AE976-70C1-E011-D1BD-A186B254606F}"/>
              </a:ext>
            </a:extLst>
          </p:cNvPr>
          <p:cNvSpPr/>
          <p:nvPr/>
        </p:nvSpPr>
        <p:spPr>
          <a:xfrm>
            <a:off x="0" y="-1"/>
            <a:ext cx="12192000" cy="42062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0688BC7-C8A7-1B9D-DD5A-CC721C82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63440"/>
            <a:ext cx="4206240" cy="1124712"/>
          </a:xfrm>
        </p:spPr>
        <p:txBody>
          <a:bodyPr anchor="t" anchorCtr="0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4552" cy="3261360"/>
          </a:xfrm>
          <a:blipFill dpi="0" rotWithShape="1">
            <a:blip r:embed="rId2">
              <a:alphaModFix amt="60000"/>
            </a:blip>
            <a:srcRect/>
            <a:stretch>
              <a:fillRect t="1" b="-89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6009" y="4663440"/>
            <a:ext cx="6426391" cy="12415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099B38A-E62D-AD07-98E2-F076BBB690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C33DF7-70E3-8959-4BBB-88BA646FC8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6559B-3088-D543-8627-C631D5D845A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E3B3F6E-3994-0241-BCBC-BC1EBD257F6E}" type="datetime1">
              <a:rPr lang="en-US" smtClean="0"/>
              <a:t>8/24/2026</a:t>
            </a:fld>
            <a:endParaRPr lang="en-US"/>
          </a:p>
        </p:txBody>
      </p:sp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B68BD559-5C7D-BCAB-EDFF-9A833E2B587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 flipV="1">
            <a:off x="6400800" y="6144768"/>
            <a:ext cx="2330721" cy="717107"/>
          </a:xfrm>
          <a:prstGeom prst="rect">
            <a:avLst/>
          </a:prstGeom>
        </p:spPr>
      </p:pic>
      <p:pic>
        <p:nvPicPr>
          <p:cNvPr id="5" name="Picture 4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351BF7C7-47D5-CE17-B30C-3114D6A147B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148" b="-8356"/>
          <a:stretch>
            <a:fillRect/>
          </a:stretch>
        </p:blipFill>
        <p:spPr>
          <a:xfrm rot="16200000" flipV="1">
            <a:off x="3316541" y="5909308"/>
            <a:ext cx="609599" cy="128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5988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1F14464-19AB-7D13-BD0E-2F857D32DD8F}"/>
              </a:ext>
            </a:extLst>
          </p:cNvPr>
          <p:cNvSpPr/>
          <p:nvPr/>
        </p:nvSpPr>
        <p:spPr>
          <a:xfrm>
            <a:off x="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CE19939-7641-D440-ED1C-43937E2E5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168" y="457200"/>
            <a:ext cx="3895344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3168" y="2315569"/>
            <a:ext cx="3894892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9D974-688E-6389-B676-3716A5DCE5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874608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11A75-2855-5D82-EF5E-AC8CBFD270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72204" y="6126480"/>
            <a:ext cx="21945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B728D-FE97-BBB3-3103-FB1096F0417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444766" y="6126480"/>
            <a:ext cx="1313294" cy="365125"/>
          </a:xfrm>
        </p:spPr>
        <p:txBody>
          <a:bodyPr/>
          <a:lstStyle/>
          <a:p>
            <a:fld id="{CEBAFC1B-AD29-C14A-91E0-0745420D0140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097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497F40-707E-796F-73DC-2241DB51A1A9}"/>
              </a:ext>
            </a:extLst>
          </p:cNvPr>
          <p:cNvSpPr/>
          <p:nvPr/>
        </p:nvSpPr>
        <p:spPr>
          <a:xfrm>
            <a:off x="4693920" y="-1"/>
            <a:ext cx="749808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7A1B64-CA7C-74CC-8184-E144FC10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40480" cy="1664208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2315569"/>
            <a:ext cx="384048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CCC24-AAEE-1EBE-5C8A-D731F7EDF25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C2662-2578-560F-F095-F1A11F44A08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CE15DD-1F7C-8AB3-8EFB-E573908E03A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218354" y="6126480"/>
            <a:ext cx="1079325" cy="365125"/>
          </a:xfrm>
        </p:spPr>
        <p:txBody>
          <a:bodyPr/>
          <a:lstStyle/>
          <a:p>
            <a:fld id="{BCA30940-2954-AA4F-9BFF-1013B5D668D8}" type="datetime1">
              <a:rPr lang="en-US" smtClean="0"/>
              <a:t>8/24/2026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56498" y="457200"/>
            <a:ext cx="6572925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1317654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65BFA-D1C6-FAD3-7B5D-029C855B189E}"/>
              </a:ext>
            </a:extLst>
          </p:cNvPr>
          <p:cNvSpPr/>
          <p:nvPr/>
        </p:nvSpPr>
        <p:spPr>
          <a:xfrm>
            <a:off x="0" y="-1"/>
            <a:ext cx="653796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499533"/>
            <a:ext cx="4754880" cy="132893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5626608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0400" y="1975104"/>
            <a:ext cx="475488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BE5B76-563B-3E92-FB3E-1D2C9717E8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104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D520868-4C6A-1C68-6ECA-7B1457F096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07996" y="6126480"/>
            <a:ext cx="28346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F3A40-40CC-8BCE-4C26-6B49E64D60B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90220" y="6126480"/>
            <a:ext cx="1467840" cy="365125"/>
          </a:xfrm>
        </p:spPr>
        <p:txBody>
          <a:bodyPr/>
          <a:lstStyle/>
          <a:p>
            <a:fld id="{5A0B49E7-1C5B-AD4A-B8C0-4550FE0A0235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034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98AE30-B0EC-6508-4AB4-7253892A47C9}"/>
              </a:ext>
            </a:extLst>
          </p:cNvPr>
          <p:cNvSpPr/>
          <p:nvPr/>
        </p:nvSpPr>
        <p:spPr>
          <a:xfrm>
            <a:off x="5516880" y="-1"/>
            <a:ext cx="667512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593619" cy="128816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920240"/>
            <a:ext cx="459349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9C4D3-7A66-D54C-679E-5F2210D54F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2DF43-22E2-E52D-1677-E2ECB5B98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2004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CC0E3-6C08-1723-74E8-C1EF05EFFE0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041314" y="6126480"/>
            <a:ext cx="1009377" cy="365125"/>
          </a:xfrm>
        </p:spPr>
        <p:txBody>
          <a:bodyPr/>
          <a:lstStyle/>
          <a:p>
            <a:fld id="{948C343A-B82F-4143-9348-1F135B2BF1BF}" type="datetime1">
              <a:rPr lang="en-US" smtClean="0"/>
              <a:t>8/24/2026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35040" y="457200"/>
            <a:ext cx="5661996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52145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E9926E-1454-088A-DAEE-81D8FCE1A622}"/>
              </a:ext>
            </a:extLst>
          </p:cNvPr>
          <p:cNvSpPr/>
          <p:nvPr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80757"/>
            <a:ext cx="3044954" cy="20116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3508" y="457200"/>
            <a:ext cx="11274552" cy="2528633"/>
          </a:xfrm>
          <a:blipFill dpi="0" rotWithShape="1">
            <a:blip r:embed="rId2">
              <a:alphaModFix amt="60000"/>
            </a:blip>
            <a:srcRect/>
            <a:stretch>
              <a:fillRect t="1" r="-233" b="-175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79669" y="3880758"/>
            <a:ext cx="7900851" cy="2011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2A1C8-408E-D74D-B08B-E4740ED27994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21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05840"/>
            <a:ext cx="3021873" cy="129763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AA3CE2-FA19-A0C1-5803-D6CB70AE52C4}"/>
              </a:ext>
            </a:extLst>
          </p:cNvPr>
          <p:cNvSpPr/>
          <p:nvPr/>
        </p:nvSpPr>
        <p:spPr>
          <a:xfrm>
            <a:off x="0" y="3636524"/>
            <a:ext cx="12192000" cy="32214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F2C2E6-D9FF-7960-30D4-3996CAF0E7A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11480" y="27432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16CECD4-053E-15EE-496E-9BA230A307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274320"/>
            <a:ext cx="3724286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77D76-068A-6817-DE61-41E5920B1A5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839459" y="274320"/>
            <a:ext cx="1918601" cy="365125"/>
          </a:xfrm>
        </p:spPr>
        <p:txBody>
          <a:bodyPr/>
          <a:lstStyle/>
          <a:p>
            <a:fld id="{74C1E1D0-99FC-0441-BDC2-0A5DDB99B607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53543" y="1005840"/>
            <a:ext cx="7904517" cy="2194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4004" y="4128448"/>
            <a:ext cx="11274056" cy="228530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l="2" t="227" r="-270" b="-952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83004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049D46-A039-8FE9-795E-B9A09588FB81}"/>
              </a:ext>
            </a:extLst>
          </p:cNvPr>
          <p:cNvSpPr/>
          <p:nvPr/>
        </p:nvSpPr>
        <p:spPr>
          <a:xfrm>
            <a:off x="0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1751" y="514175"/>
            <a:ext cx="6400800" cy="131502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457200" y="457200"/>
            <a:ext cx="3952393" cy="59436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3108" y="1978488"/>
            <a:ext cx="6400800" cy="3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3CD20-9BC1-4411-A4E2-3B37C24049B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312105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5AD34-905D-5BB9-666C-2F8C95D63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09702" y="6126480"/>
            <a:ext cx="397521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84FBA4-81B9-2387-9280-85A1A169CC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D2F5157-4209-D142-B123-F174FB18FA7D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7617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5BA68-BEB6-20D9-ED99-49AE2037C723}"/>
              </a:ext>
            </a:extLst>
          </p:cNvPr>
          <p:cNvSpPr/>
          <p:nvPr/>
        </p:nvSpPr>
        <p:spPr>
          <a:xfrm>
            <a:off x="7305675" y="-1"/>
            <a:ext cx="4886325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428962" cy="11430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1737360"/>
            <a:ext cx="6428963" cy="4228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48AAF-8DE6-EAE0-C3BC-3EF1475AC6C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12C07-7A5F-BEB6-7A29-9DAB0CF47A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BBFD0-0424-7C4B-20AF-00D4497D7F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539443" y="6126480"/>
            <a:ext cx="2346720" cy="365125"/>
          </a:xfrm>
        </p:spPr>
        <p:txBody>
          <a:bodyPr/>
          <a:lstStyle/>
          <a:p>
            <a:fld id="{D4039460-34D4-104F-A87D-31820CDD6266}" type="datetime1">
              <a:rPr lang="en-US" smtClean="0"/>
              <a:t>8/24/2026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769731" y="457200"/>
            <a:ext cx="395821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1764240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32688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1480" y="1737360"/>
            <a:ext cx="4812154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BFCA8-9BD5-0D66-6653-7B45B382C4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02138-E28D-3ED2-F911-171BA61DEE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09077" y="6126480"/>
            <a:ext cx="310896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15DE3-263F-5B56-80FE-04252DA7AF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49874" y="6126480"/>
            <a:ext cx="1273760" cy="365125"/>
          </a:xfrm>
        </p:spPr>
        <p:txBody>
          <a:bodyPr/>
          <a:lstStyle/>
          <a:p>
            <a:fld id="{1134199F-B77C-624E-8596-34C330D06B24}" type="datetime1">
              <a:rPr lang="en-US" smtClean="0"/>
              <a:t>8/24/2026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658927" y="1737360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t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151299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6589777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737360"/>
            <a:ext cx="4929188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89759" y="1737360"/>
            <a:ext cx="5741992" cy="4207696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A9E5AF-145E-4F1A-BB20-9409893575A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38992-9744-9F81-E393-2C3F1988DB6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D553C8-D720-0A9C-1422-FB597AA90E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6D95950-DF64-8142-88A4-F8F59685720D}" type="datetime1">
              <a:rPr lang="en-US" smtClean="0"/>
              <a:t>8/24/2026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515AFBE3-40C6-81D7-9428-700F64A385D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00544" y="-10989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034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9857233" cy="932688"/>
          </a:xfrm>
        </p:spPr>
        <p:txBody>
          <a:bodyPr anchor="t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37361"/>
            <a:ext cx="6533071" cy="5120640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 b="-463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3255" y="1737360"/>
            <a:ext cx="4663440" cy="4297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937D0-8E8C-36F0-C09F-3935C5F5A1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98034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A5FE1-47F3-1838-9838-5F3981F5C0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495631" y="6126480"/>
            <a:ext cx="2818801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ADA45-5086-049B-5151-875044D0EB2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314432" y="6126480"/>
            <a:ext cx="1443628" cy="365125"/>
          </a:xfrm>
        </p:spPr>
        <p:txBody>
          <a:bodyPr/>
          <a:lstStyle/>
          <a:p>
            <a:fld id="{05030E4E-627B-D64F-876E-5B4D0895463B}" type="datetime1">
              <a:rPr lang="en-US" smtClean="0"/>
              <a:t>8/24/2026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4749E5-FB47-A780-BB70-15427C5C9C7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924" r="48863"/>
          <a:stretch>
            <a:fillRect/>
          </a:stretch>
        </p:blipFill>
        <p:spPr>
          <a:xfrm>
            <a:off x="10841171" y="-1694"/>
            <a:ext cx="1350829" cy="707766"/>
          </a:xfrm>
          <a:prstGeom prst="rect">
            <a:avLst/>
          </a:prstGeom>
        </p:spPr>
      </p:pic>
      <p:pic>
        <p:nvPicPr>
          <p:cNvPr id="7" name="Picture 6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CC4A5946-E946-3908-F594-36D825BAA61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753" b="-3752"/>
          <a:stretch>
            <a:fillRect/>
          </a:stretch>
        </p:blipFill>
        <p:spPr>
          <a:xfrm rot="16200000" flipH="1">
            <a:off x="10305612" y="-161869"/>
            <a:ext cx="611235" cy="93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01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6976" y="457200"/>
            <a:ext cx="7315200" cy="10058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06976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CCFB6-66BF-D5A2-4EF3-833708DF04F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06976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BAED9-FD69-CDB3-CE31-233F9E999A5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04572" y="6126480"/>
            <a:ext cx="365760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C4576-1D70-8D69-935F-F5841843BF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EB7EF76-FB1E-EA44-B271-29D75F3FBB25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526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15200" cy="91440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554480"/>
            <a:ext cx="7315200" cy="4480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31AD-BC5C-0681-77D2-AA2DD3FACC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FFF4-D46A-BAF9-7B12-CCCCD9D4B9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3D3FC-835B-4DD5-6FB4-1C61B80E1E7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782614" y="6126480"/>
            <a:ext cx="1989786" cy="365125"/>
          </a:xfrm>
        </p:spPr>
        <p:txBody>
          <a:bodyPr/>
          <a:lstStyle/>
          <a:p>
            <a:fld id="{45042452-74AC-7E41-8CDA-7073C00E876C}" type="datetime1">
              <a:rPr lang="en-US" smtClean="0"/>
              <a:t>8/24/2026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74182" y="0"/>
            <a:ext cx="4017817" cy="6858000"/>
          </a:xfrm>
          <a:blipFill dpi="0" rotWithShape="1">
            <a:blip r:embed="rId2">
              <a:alphaModFix amt="60000"/>
            </a:blip>
            <a:srcRect/>
            <a:stretch>
              <a:fillRect l="-205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397948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564763" cy="1269482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1968816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00688" y="457200"/>
            <a:ext cx="6217920" cy="54752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D6359-BBC3-9E40-B171-C99E9F4933E9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489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540760" cy="1316347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089842"/>
            <a:ext cx="3540760" cy="385375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59" y="457200"/>
            <a:ext cx="7254239" cy="5669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BEBE4-268E-1643-A712-CC93702C9C05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022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31070" y="457200"/>
            <a:ext cx="8129861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7E66D84-D695-C745-96DB-748C5AC7D514}" type="datetime1">
              <a:rPr lang="en-US" smtClean="0"/>
              <a:t>8/24/2026</a:t>
            </a:fld>
            <a:endParaRPr lang="en-US"/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937E1ED-1028-57A9-8653-199F587CAA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056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152" y="4892040"/>
            <a:ext cx="9762068" cy="106070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0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438400" y="457200"/>
            <a:ext cx="7315200" cy="4535424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814E37-7324-6845-87AB-412490586DE2}" type="datetime1">
              <a:rPr lang="en-US" smtClean="0">
                <a:solidFill>
                  <a:schemeClr val="tx2"/>
                </a:solidFill>
              </a:rPr>
              <a:t>8/24/2026</a:t>
            </a:fld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Picture 7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880C214-5B6A-CB20-C2B7-43282B9B191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1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in a circle&#10;&#10;AI-generated content may be incorrect.">
            <a:extLst>
              <a:ext uri="{FF2B5EF4-FFF2-40B4-BE49-F238E27FC236}">
                <a16:creationId xmlns:a16="http://schemas.microsoft.com/office/drawing/2014/main" id="{BF0F0DCE-304C-EF8B-B97E-382148327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4397696"/>
            <a:ext cx="5486400" cy="1463040"/>
          </a:xfrm>
        </p:spPr>
        <p:txBody>
          <a:bodyPr anchor="t" anchorCtr="0">
            <a:normAutofit/>
          </a:bodyPr>
          <a:lstStyle>
            <a:lvl1pPr algn="ctr">
              <a:lnSpc>
                <a:spcPct val="11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74069" y="1171579"/>
            <a:ext cx="8043862" cy="356616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5000" b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25823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52600" y="365760"/>
            <a:ext cx="8686800" cy="5486400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 algn="ctr">
              <a:lnSpc>
                <a:spcPct val="80000"/>
              </a:lnSpc>
              <a:buNone/>
              <a:defRPr sz="60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 algn="ctr">
              <a:lnSpc>
                <a:spcPct val="80000"/>
              </a:lnSpc>
              <a:buNone/>
              <a:defRPr sz="5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 algn="ctr">
              <a:lnSpc>
                <a:spcPct val="80000"/>
              </a:lnSpc>
              <a:buNone/>
              <a:defRPr sz="48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 algn="ctr">
              <a:lnSpc>
                <a:spcPct val="80000"/>
              </a:lnSpc>
              <a:buNone/>
              <a:defRPr sz="44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944B1-A93B-F147-9A5A-D2620572B4B1}" type="datetime1">
              <a:rPr lang="en-US" smtClean="0"/>
              <a:t>8/24/2026</a:t>
            </a:fld>
            <a:endParaRPr lang="en-US"/>
          </a:p>
        </p:txBody>
      </p:sp>
      <p:pic>
        <p:nvPicPr>
          <p:cNvPr id="10" name="Picture 9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296154C5-7B40-49CB-E343-73980D8C70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654540" y="3003334"/>
            <a:ext cx="4160520" cy="914400"/>
          </a:xfrm>
          <a:prstGeom prst="rect">
            <a:avLst/>
          </a:prstGeom>
        </p:spPr>
      </p:pic>
      <p:pic>
        <p:nvPicPr>
          <p:cNvPr id="12" name="Picture 11" descr="A blue leafy plant&#10;&#10;AI-generated content may be incorrect.">
            <a:extLst>
              <a:ext uri="{FF2B5EF4-FFF2-40B4-BE49-F238E27FC236}">
                <a16:creationId xmlns:a16="http://schemas.microsoft.com/office/drawing/2014/main" id="{C5608801-CE38-1990-EC36-5F382F3AC33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7073"/>
          <a:stretch>
            <a:fillRect/>
          </a:stretch>
        </p:blipFill>
        <p:spPr>
          <a:xfrm>
            <a:off x="0" y="157646"/>
            <a:ext cx="1757091" cy="1460378"/>
          </a:xfrm>
          <a:prstGeom prst="rect">
            <a:avLst/>
          </a:prstGeom>
        </p:spPr>
      </p:pic>
      <p:pic>
        <p:nvPicPr>
          <p:cNvPr id="13" name="Picture 1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497485C4-99A6-761F-6BC9-2157F7BE1A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-1163538" y="2885078"/>
            <a:ext cx="3361254" cy="103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1851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FF848890-CE01-9C1B-6EF2-542D922D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15024" y="1040528"/>
            <a:ext cx="5843035" cy="457200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80000"/>
              </a:lnSpc>
              <a:buNone/>
              <a:defRPr sz="48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44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40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36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3200" b="0" cap="all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6113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160B913-2D3E-D2F1-2DC5-E8D1EB38E455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22960" y="1280160"/>
            <a:ext cx="10515600" cy="4114800"/>
          </a:xfrm>
        </p:spPr>
        <p:txBody>
          <a:bodyPr anchor="ctr">
            <a:noAutofit/>
          </a:bodyPr>
          <a:lstStyle>
            <a:lvl1pPr marL="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1pPr>
            <a:lvl2pPr marL="2286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2pPr>
            <a:lvl3pPr marL="4572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3pPr>
            <a:lvl4pPr marL="6858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4pPr>
            <a:lvl5pPr marL="914400" indent="0">
              <a:lnSpc>
                <a:spcPct val="80000"/>
              </a:lnSpc>
              <a:buNone/>
              <a:defRPr sz="6600" b="0" cap="all" baseline="0">
                <a:solidFill>
                  <a:schemeClr val="tx1"/>
                </a:solidFill>
                <a:latin typeface="+mj-lt"/>
                <a:cs typeface="Urdu Typesetting" panose="03020402040406030203" pitchFamily="66" charset="-78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1C0D-A5B5-3D43-825A-85FAF7F7BC22}" type="datetime1">
              <a:rPr lang="en-US" smtClean="0"/>
              <a:t>8/24/2026</a:t>
            </a:fld>
            <a:endParaRPr lang="en-US"/>
          </a:p>
        </p:txBody>
      </p:sp>
      <p:pic>
        <p:nvPicPr>
          <p:cNvPr id="9" name="Picture 8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1CCED1F3-3CEB-D840-3519-74AC605E8D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0"/>
            <a:ext cx="4160520" cy="91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2300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D25D851B-A4D3-5C99-951A-68207FA26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693" y="0"/>
            <a:ext cx="703130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195516"/>
            <a:ext cx="576072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5760720" cy="4579422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4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79664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9600" y="4941517"/>
            <a:ext cx="5588000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 i="0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689600" y="1049867"/>
            <a:ext cx="5588000" cy="3657597"/>
          </a:xfrm>
        </p:spPr>
        <p:txBody>
          <a:bodyPr anchor="ctr" anchorCtr="0">
            <a:normAutofit/>
          </a:bodyPr>
          <a:lstStyle>
            <a:lvl1pPr marL="0" indent="-164592">
              <a:lnSpc>
                <a:spcPct val="80000"/>
              </a:lnSpc>
              <a:spcBef>
                <a:spcPts val="0"/>
              </a:spcBef>
              <a:buNone/>
              <a:defRPr sz="4800" cap="all" spc="0" baseline="0"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2D73AE9-869B-7BF3-50A5-234196163F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3FEB0EA-071D-4499-B42D-F2B8EA05084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B50E06B-939B-0AAF-0ECC-655004CFE6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7E73F5-CCA3-444E-8B15-361BEE3A4343}" type="datetime1">
              <a:rPr lang="en-US" smtClean="0"/>
              <a:t>8/24/2026</a:t>
            </a:fld>
            <a:endParaRPr lang="en-US"/>
          </a:p>
        </p:txBody>
      </p:sp>
      <p:pic>
        <p:nvPicPr>
          <p:cNvPr id="4" name="Picture 3" descr="A lemon on a branch&#10;&#10;AI-generated content may be incorrect.">
            <a:extLst>
              <a:ext uri="{FF2B5EF4-FFF2-40B4-BE49-F238E27FC236}">
                <a16:creationId xmlns:a16="http://schemas.microsoft.com/office/drawing/2014/main" id="{6C8943F9-BACC-FB6D-553E-E3ABEBDAF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77" y="935877"/>
            <a:ext cx="4131220" cy="464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339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9800" y="4955722"/>
            <a:ext cx="7772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09800" y="1344168"/>
            <a:ext cx="777240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pic>
        <p:nvPicPr>
          <p:cNvPr id="10" name="Picture 9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E1FAE426-B259-9B7E-DA6B-E052E1FCE6B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1628"/>
          <a:stretch>
            <a:fillRect/>
          </a:stretch>
        </p:blipFill>
        <p:spPr>
          <a:xfrm flipH="1">
            <a:off x="1638457" y="-1"/>
            <a:ext cx="3509674" cy="1034177"/>
          </a:xfrm>
          <a:prstGeom prst="rect">
            <a:avLst/>
          </a:prstGeom>
        </p:spPr>
      </p:pic>
      <p:pic>
        <p:nvPicPr>
          <p:cNvPr id="11" name="Picture 10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0A0E2D79-EB43-8B87-7AC2-A0043A5E3F8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04153"/>
            <a:ext cx="1917700" cy="1346200"/>
          </a:xfrm>
          <a:prstGeom prst="rect">
            <a:avLst/>
          </a:prstGeom>
        </p:spPr>
      </p:pic>
      <p:pic>
        <p:nvPicPr>
          <p:cNvPr id="12" name="Picture 11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7373C030-FF01-D4D1-E8D8-0EE4E6036E1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10171959" y="780706"/>
            <a:ext cx="2020041" cy="141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043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leaves in a circle&#10;&#10;AI-generated content may be incorrect.">
            <a:extLst>
              <a:ext uri="{FF2B5EF4-FFF2-40B4-BE49-F238E27FC236}">
                <a16:creationId xmlns:a16="http://schemas.microsoft.com/office/drawing/2014/main" id="{E981F3B3-629F-D680-2DF2-E8D2A2A6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8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4782298"/>
            <a:ext cx="5486400" cy="669472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defRPr sz="1800" b="0" i="0" spc="100" baseline="0">
                <a:solidFill>
                  <a:schemeClr val="tx2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04160" y="1344168"/>
            <a:ext cx="6583680" cy="3291840"/>
          </a:xfrm>
        </p:spPr>
        <p:txBody>
          <a:bodyPr anchor="ctr">
            <a:normAutofit/>
          </a:bodyPr>
          <a:lstStyle>
            <a:lvl1pPr marL="0" indent="-164592" algn="ctr">
              <a:lnSpc>
                <a:spcPct val="80000"/>
              </a:lnSpc>
              <a:spcBef>
                <a:spcPts val="0"/>
              </a:spcBef>
              <a:buNone/>
              <a:defRPr sz="4000" cap="all" spc="0" baseline="0">
                <a:solidFill>
                  <a:schemeClr val="tx2"/>
                </a:solidFill>
                <a:latin typeface="+mj-lt"/>
                <a:cs typeface="Urdu Typesetting" panose="03020402040406030203" pitchFamily="66" charset="-78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0339491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60374-D5A7-578F-94DF-B3AE40A63D76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60FC988-C014-CA7D-7F26-4EDC152955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9838" y="4553078"/>
            <a:ext cx="5638800" cy="788610"/>
          </a:xfrm>
        </p:spPr>
        <p:txBody>
          <a:bodyPr/>
          <a:lstStyle>
            <a:lvl1pPr>
              <a:lnSpc>
                <a:spcPct val="120000"/>
              </a:lnSpc>
              <a:defRPr sz="180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4BC7C1D-C941-64F4-959E-B9487BF4CD0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579837" y="1047879"/>
            <a:ext cx="8483601" cy="3371850"/>
          </a:xfrm>
        </p:spPr>
        <p:txBody>
          <a:bodyPr anchor="ctr"/>
          <a:lstStyle>
            <a:lvl1pPr indent="0">
              <a:lnSpc>
                <a:spcPct val="80000"/>
              </a:lnSpc>
              <a:buNone/>
              <a:defRPr sz="54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628BD-4B0C-2949-B92B-496E78197D17}" type="datetime1">
              <a:rPr lang="en-US" smtClean="0"/>
              <a:t>8/24/2026</a:t>
            </a:fld>
            <a:endParaRPr lang="en-US"/>
          </a:p>
        </p:txBody>
      </p:sp>
      <p:pic>
        <p:nvPicPr>
          <p:cNvPr id="9" name="Picture 8" descr="Blue leaves on a black background&#10;&#10;AI-generated content may be incorrect.">
            <a:extLst>
              <a:ext uri="{FF2B5EF4-FFF2-40B4-BE49-F238E27FC236}">
                <a16:creationId xmlns:a16="http://schemas.microsoft.com/office/drawing/2014/main" id="{AD9087A2-9DF4-E9FD-70DE-819B7480EA6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60320"/>
            <a:ext cx="1917700" cy="134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68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leaf on a black background&#10;&#10;AI-generated content may be incorrect.">
            <a:extLst>
              <a:ext uri="{FF2B5EF4-FFF2-40B4-BE49-F238E27FC236}">
                <a16:creationId xmlns:a16="http://schemas.microsoft.com/office/drawing/2014/main" id="{2980446A-4C51-EF2C-7912-750EC88087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7315200" y="-1"/>
            <a:ext cx="3361254" cy="10341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034176"/>
            <a:ext cx="11300859" cy="138898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651760"/>
            <a:ext cx="1130086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E4B0-8B14-9B4C-A31A-5987B81B3FF3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185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C57870-6258-3787-62B9-78CC66A2B053}"/>
              </a:ext>
            </a:extLst>
          </p:cNvPr>
          <p:cNvSpPr/>
          <p:nvPr/>
        </p:nvSpPr>
        <p:spPr>
          <a:xfrm>
            <a:off x="411480" y="408561"/>
            <a:ext cx="11346580" cy="547788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32720" cy="137160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651760"/>
            <a:ext cx="10332720" cy="27731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36A54-899C-E541-8E52-4AB7D9961575}" type="datetime1">
              <a:rPr lang="en-US" smtClean="0"/>
              <a:t>8/24/2026</a:t>
            </a:fld>
            <a:endParaRPr lang="en-US"/>
          </a:p>
        </p:txBody>
      </p:sp>
      <p:pic>
        <p:nvPicPr>
          <p:cNvPr id="7" name="Picture 6" descr="A blue and black image of two birds&#10;&#10;AI-generated content may be incorrect.">
            <a:extLst>
              <a:ext uri="{FF2B5EF4-FFF2-40B4-BE49-F238E27FC236}">
                <a16:creationId xmlns:a16="http://schemas.microsoft.com/office/drawing/2014/main" id="{DF688FE8-69D4-9BEF-4BAA-95000B6B06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4158274" y="5524901"/>
            <a:ext cx="6065596" cy="13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6345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14400"/>
            <a:ext cx="5486400" cy="2514600"/>
          </a:xfrm>
        </p:spPr>
        <p:txBody>
          <a:bodyPr anchor="b" anchorCtr="0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82336"/>
            <a:ext cx="5486400" cy="231840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A4A97-A7C4-9F40-8A0A-FE5948AA7EAD}" type="datetime1">
              <a:rPr lang="en-US" smtClean="0"/>
              <a:t>8/24/2026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38A79B-2A35-A3D9-A7ED-DE7607A5B87F}"/>
              </a:ext>
            </a:extLst>
          </p:cNvPr>
          <p:cNvSpPr/>
          <p:nvPr/>
        </p:nvSpPr>
        <p:spPr>
          <a:xfrm>
            <a:off x="7383790" y="914400"/>
            <a:ext cx="4389990" cy="47548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lemon on a branch&#10;&#10;AI-generated content may be incorrect.">
            <a:extLst>
              <a:ext uri="{FF2B5EF4-FFF2-40B4-BE49-F238E27FC236}">
                <a16:creationId xmlns:a16="http://schemas.microsoft.com/office/drawing/2014/main" id="{BCAD1063-90DD-E1BB-B6C8-CF21479CD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14" y="553212"/>
            <a:ext cx="4911923" cy="552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8637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1825625"/>
            <a:ext cx="5394960" cy="4206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CCE39-E894-AE4B-8297-21AAF0EFFD0A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59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3736" y="1685735"/>
            <a:ext cx="53949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63100" y="2387600"/>
            <a:ext cx="5394960" cy="36576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DF8A-0D91-364D-A077-5FA6DB0BF384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10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4552" cy="9144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0C67-8BBF-6B4F-9B47-BDE666336AA6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195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4A657-91FB-5045-886C-E8C9E2D0FBD3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643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297680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590800"/>
            <a:ext cx="4297680" cy="3291840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457200"/>
            <a:ext cx="6645812" cy="539496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C984-B3DE-9046-AFE2-DCA5A31E4617}" type="datetime1">
              <a:rPr lang="en-US" smtClean="0"/>
              <a:t>8/24/2026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124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849492-8CEA-1782-4908-C537B7CD0034}"/>
              </a:ext>
            </a:extLst>
          </p:cNvPr>
          <p:cNvSpPr/>
          <p:nvPr/>
        </p:nvSpPr>
        <p:spPr>
          <a:xfrm>
            <a:off x="4659682" y="-1"/>
            <a:ext cx="7532318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788700" cy="176208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826137"/>
            <a:ext cx="3778112" cy="3017520"/>
          </a:xfrm>
        </p:spPr>
        <p:txBody>
          <a:bodyPr anchor="b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9077" y="6126480"/>
            <a:ext cx="2377440" cy="365125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86517" y="6126480"/>
            <a:ext cx="1039521" cy="365125"/>
          </a:xfrm>
        </p:spPr>
        <p:txBody>
          <a:bodyPr/>
          <a:lstStyle/>
          <a:p>
            <a:fld id="{0265947F-1BAF-0347-867A-BE413595A34D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5073465" y="457200"/>
            <a:ext cx="6704753" cy="59436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1936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69C9E-5EF9-BB75-4627-4DC5CC69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365125"/>
            <a:ext cx="113465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82400-D5E7-A68D-169F-2E18AE06F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80" y="1825625"/>
            <a:ext cx="1134658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F041-44CD-B171-7760-9BD4A44AF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126480"/>
            <a:ext cx="36576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40B778AE-8D30-EC43-B255-420E7914C17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8213-F4F4-5A28-3082-9883265461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9077" y="6126480"/>
            <a:ext cx="3698529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940C-5E99-C9E6-92A2-229FA878B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84913" y="6126480"/>
            <a:ext cx="20731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 b="0" i="0" cap="all" spc="100" baseline="0">
                <a:solidFill>
                  <a:schemeClr val="tx1"/>
                </a:solidFill>
                <a:latin typeface="+mn-lt"/>
                <a:ea typeface="Source Sans Pro Light" panose="020B0403030403020204" pitchFamily="34" charset="0"/>
                <a:cs typeface="Cordia New" panose="020B0304020202020204" pitchFamily="34" charset="-34"/>
              </a:defRPr>
            </a:lvl1pPr>
          </a:lstStyle>
          <a:p>
            <a:fld id="{F58F0028-8822-3F46-9369-4E11A89384E5}" type="datetime1">
              <a:rPr lang="en-US" smtClean="0"/>
              <a:pPr/>
              <a:t>8/24/2026</a:t>
            </a:fld>
            <a:endParaRPr lang="en-US"/>
          </a:p>
        </p:txBody>
      </p:sp>
      <p:sp>
        <p:nvSpPr>
          <p:cNvPr id="11" name="Freeform 10" hidden="1">
            <a:extLst>
              <a:ext uri="{FF2B5EF4-FFF2-40B4-BE49-F238E27FC236}">
                <a16:creationId xmlns:a16="http://schemas.microsoft.com/office/drawing/2014/main" id="{AD19C17A-2059-B291-5686-A6EE57749B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sX0" fmla="*/ 457200 w 12192000"/>
              <a:gd name="csY0" fmla="*/ 457200 h 6858000"/>
              <a:gd name="csX1" fmla="*/ 457200 w 12192000"/>
              <a:gd name="csY1" fmla="*/ 6400800 h 6858000"/>
              <a:gd name="csX2" fmla="*/ 11734800 w 12192000"/>
              <a:gd name="csY2" fmla="*/ 6400800 h 6858000"/>
              <a:gd name="csX3" fmla="*/ 11734800 w 12192000"/>
              <a:gd name="csY3" fmla="*/ 457200 h 6858000"/>
              <a:gd name="csX4" fmla="*/ 0 w 12192000"/>
              <a:gd name="csY4" fmla="*/ 0 h 6858000"/>
              <a:gd name="csX5" fmla="*/ 457200 w 12192000"/>
              <a:gd name="csY5" fmla="*/ 0 h 6858000"/>
              <a:gd name="csX6" fmla="*/ 457200 w 12192000"/>
              <a:gd name="csY6" fmla="*/ 0 h 6858000"/>
              <a:gd name="csX7" fmla="*/ 12190476 w 12192000"/>
              <a:gd name="csY7" fmla="*/ 0 h 6858000"/>
              <a:gd name="csX8" fmla="*/ 12190476 w 12192000"/>
              <a:gd name="csY8" fmla="*/ 0 h 6858000"/>
              <a:gd name="csX9" fmla="*/ 12192000 w 12192000"/>
              <a:gd name="csY9" fmla="*/ 0 h 6858000"/>
              <a:gd name="csX10" fmla="*/ 12192000 w 12192000"/>
              <a:gd name="csY10" fmla="*/ 6858000 h 6858000"/>
              <a:gd name="csX11" fmla="*/ 12190476 w 12192000"/>
              <a:gd name="csY11" fmla="*/ 6858000 h 6858000"/>
              <a:gd name="csX12" fmla="*/ 11734800 w 12192000"/>
              <a:gd name="csY12" fmla="*/ 6858000 h 6858000"/>
              <a:gd name="csX13" fmla="*/ 457200 w 12192000"/>
              <a:gd name="csY13" fmla="*/ 6858000 h 6858000"/>
              <a:gd name="csX14" fmla="*/ 1525 w 12192000"/>
              <a:gd name="csY14" fmla="*/ 6858000 h 6858000"/>
              <a:gd name="csX15" fmla="*/ 0 w 12192000"/>
              <a:gd name="csY15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12192000" h="6858000">
                <a:moveTo>
                  <a:pt x="457200" y="457200"/>
                </a:moveTo>
                <a:lnTo>
                  <a:pt x="457200" y="6400800"/>
                </a:lnTo>
                <a:lnTo>
                  <a:pt x="11734800" y="6400800"/>
                </a:lnTo>
                <a:lnTo>
                  <a:pt x="11734800" y="457200"/>
                </a:lnTo>
                <a:close/>
                <a:moveTo>
                  <a:pt x="0" y="0"/>
                </a:moveTo>
                <a:lnTo>
                  <a:pt x="457200" y="0"/>
                </a:lnTo>
                <a:lnTo>
                  <a:pt x="457200" y="0"/>
                </a:lnTo>
                <a:lnTo>
                  <a:pt x="12190476" y="0"/>
                </a:lnTo>
                <a:lnTo>
                  <a:pt x="12190476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0476" y="6858000"/>
                </a:lnTo>
                <a:lnTo>
                  <a:pt x="11734800" y="6858000"/>
                </a:lnTo>
                <a:lnTo>
                  <a:pt x="457200" y="6858000"/>
                </a:lnTo>
                <a:lnTo>
                  <a:pt x="1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  <p:sldLayoutId id="2147483763" r:id="rId19"/>
    <p:sldLayoutId id="2147483764" r:id="rId20"/>
    <p:sldLayoutId id="2147483765" r:id="rId21"/>
    <p:sldLayoutId id="2147483766" r:id="rId22"/>
    <p:sldLayoutId id="2147483767" r:id="rId23"/>
    <p:sldLayoutId id="2147483768" r:id="rId24"/>
    <p:sldLayoutId id="2147483769" r:id="rId25"/>
    <p:sldLayoutId id="2147483770" r:id="rId26"/>
    <p:sldLayoutId id="2147483771" r:id="rId27"/>
    <p:sldLayoutId id="2147483772" r:id="rId28"/>
    <p:sldLayoutId id="2147483773" r:id="rId29"/>
    <p:sldLayoutId id="2147483774" r:id="rId30"/>
    <p:sldLayoutId id="2147483775" r:id="rId31"/>
    <p:sldLayoutId id="2147483776" r:id="rId32"/>
    <p:sldLayoutId id="2147483777" r:id="rId33"/>
    <p:sldLayoutId id="2147483778" r:id="rId34"/>
    <p:sldLayoutId id="2147483779" r:id="rId35"/>
    <p:sldLayoutId id="2147483780" r:id="rId36"/>
    <p:sldLayoutId id="2147483781" r:id="rId37"/>
    <p:sldLayoutId id="2147483782" r:id="rId38"/>
    <p:sldLayoutId id="2147483783" r:id="rId39"/>
    <p:sldLayoutId id="2147483784" r:id="rId40"/>
    <p:sldLayoutId id="2147483785" r:id="rId41"/>
    <p:sldLayoutId id="2147483786" r:id="rId42"/>
    <p:sldLayoutId id="2147483787" r:id="rId43"/>
    <p:sldLayoutId id="2147483788" r:id="rId44"/>
    <p:sldLayoutId id="2147483789" r:id="rId45"/>
    <p:sldLayoutId id="2147483790" r:id="rId46"/>
    <p:sldLayoutId id="2147483791" r:id="rId47"/>
    <p:sldLayoutId id="2147483792" r:id="rId48"/>
    <p:sldLayoutId id="2147483793" r:id="rId49"/>
    <p:sldLayoutId id="2147483794" r:id="rId50"/>
    <p:sldLayoutId id="2147483795" r:id="rId51"/>
    <p:sldLayoutId id="2147483796" r:id="rId52"/>
    <p:sldLayoutId id="2147483797" r:id="rId53"/>
    <p:sldLayoutId id="2147483798" r:id="rId54"/>
    <p:sldLayoutId id="2147483799" r:id="rId55"/>
    <p:sldLayoutId id="2147483800" r:id="rId56"/>
    <p:sldLayoutId id="2147483801" r:id="rId57"/>
    <p:sldLayoutId id="2147483802" r:id="rId58"/>
    <p:sldLayoutId id="2147483803" r:id="rId5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200" baseline="0">
          <a:solidFill>
            <a:schemeClr val="tx1"/>
          </a:solidFill>
          <a:latin typeface="+mj-lt"/>
          <a:ea typeface="+mj-ea"/>
          <a:cs typeface="Urdu Typesetting" panose="03020402040406030203" pitchFamily="66" charset="-78"/>
        </a:defRPr>
      </a:lvl1pPr>
    </p:titleStyle>
    <p:bodyStyle>
      <a:lvl1pPr marL="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3pPr>
      <a:lvl4pPr marL="804672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4pPr>
      <a:lvl5pPr marL="1024128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b="0" i="0" kern="1200" spc="0" baseline="0">
          <a:solidFill>
            <a:schemeClr val="tx1"/>
          </a:solidFill>
          <a:latin typeface="+mn-lt"/>
          <a:ea typeface="Source Sans Pro Light" panose="020B0403030403020204" pitchFamily="34" charset="0"/>
          <a:cs typeface="Cordia New" panose="020B0304020202020204" pitchFamily="34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8190-6C6B-103B-6784-A34365AB5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394139"/>
            <a:ext cx="5336630" cy="4069724"/>
          </a:xfrm>
        </p:spPr>
        <p:txBody>
          <a:bodyPr>
            <a:normAutofit/>
          </a:bodyPr>
          <a:lstStyle/>
          <a:p>
            <a:pPr>
              <a:lnSpc>
                <a:spcPct val="105000"/>
              </a:lnSpc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Transformation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3E1E8-4588-F79E-3132-D90D12E27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363" y="6030913"/>
            <a:ext cx="9144000" cy="5492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Kaitlyn OConnell, Scrum Master  |  </a:t>
            </a:r>
            <a:r>
              <a:rPr lang="en-US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ChadaTech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SNHU Travel Development Team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B2BDA-165B-093D-2C99-A79E149D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2300" y="6126480"/>
            <a:ext cx="365760" cy="365125"/>
          </a:xfrm>
        </p:spPr>
        <p:txBody>
          <a:bodyPr/>
          <a:lstStyle/>
          <a:p>
            <a:fld id="{40B778AE-8D30-EC43-B255-420E7914C17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28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EF2797-4B2F-AD7F-BDEE-1B35CD962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Scrum-Agile Team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E0531-4CED-C3C6-3397-26F50C9996D9}"/>
              </a:ext>
            </a:extLst>
          </p:cNvPr>
          <p:cNvSpPr txBox="1"/>
          <p:nvPr/>
        </p:nvSpPr>
        <p:spPr>
          <a:xfrm>
            <a:off x="4637315" y="1208314"/>
            <a:ext cx="69559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Product Owner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Owns the product backlog and product vision; gathers end-user input and converts it into workable tasks.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Scrum Master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Facilitates Scrum events, removes obstacles, and coaches the team — guiding process as a servant leader.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Developer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Turn user stories into working functionality, coordinating closely with the product owner and testers since one story's changes can affect other items in the backlog.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Tester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Build test cases and scenarios directly from user stories and the product owner, testing is a continuous process throughout the sprint iteration.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FFCC55-105C-AEC1-8F6D-14DBB8929810}"/>
              </a:ext>
            </a:extLst>
          </p:cNvPr>
          <p:cNvSpPr txBox="1"/>
          <p:nvPr/>
        </p:nvSpPr>
        <p:spPr>
          <a:xfrm>
            <a:off x="435428" y="6474371"/>
            <a:ext cx="5038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(Schwaber &amp; Sutherland, 2020; </a:t>
            </a:r>
            <a:r>
              <a:rPr lang="en-US" i="1" dirty="0" err="1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Kadenic</a:t>
            </a:r>
            <a:r>
              <a:rPr lang="en-US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2023)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16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FB3C10-9B61-2277-DD59-F7CB2C733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SDLC Agile Cycle    </a:t>
            </a:r>
          </a:p>
          <a:p>
            <a:r>
              <a:rPr lang="en-US" sz="1300" i="1" dirty="0">
                <a:solidFill>
                  <a:srgbClr val="4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moves through five phases, then the cycle repeats — building in continuous inspection and adaptation</a:t>
            </a:r>
            <a:endParaRPr lang="en-US" sz="13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17C11-4787-EB5A-E9D9-DDF594EE8549}"/>
              </a:ext>
            </a:extLst>
          </p:cNvPr>
          <p:cNvSpPr txBox="1"/>
          <p:nvPr/>
        </p:nvSpPr>
        <p:spPr>
          <a:xfrm>
            <a:off x="4582886" y="1458686"/>
            <a:ext cx="6781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Plan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Team selects and estimates for sprint backlog items using planning tools like planning poker.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Development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Developers build stories; Daily Scrum surfaces obstacles early.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Testing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Testers verify functionality against stories throughout the iteration, not just at the end.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Review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Completed work is checked against stakeholder expectations.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+mj-lt"/>
              </a:rPr>
              <a:t>Retrospect</a:t>
            </a:r>
          </a:p>
          <a:p>
            <a:r>
              <a:rPr lang="en-US" dirty="0">
                <a:solidFill>
                  <a:schemeClr val="accent1"/>
                </a:solidFill>
                <a:latin typeface="+mj-lt"/>
                <a:ea typeface="Calibri" pitchFamily="34" charset="-122"/>
                <a:cs typeface="Calibri" pitchFamily="34" charset="-120"/>
              </a:rPr>
              <a:t>Team reflects on lessons learned throughout the iteration.</a:t>
            </a:r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6995CF-DD83-6C2C-C9E7-FE095900B22A}"/>
              </a:ext>
            </a:extLst>
          </p:cNvPr>
          <p:cNvSpPr txBox="1"/>
          <p:nvPr/>
        </p:nvSpPr>
        <p:spPr>
          <a:xfrm>
            <a:off x="707571" y="6474371"/>
            <a:ext cx="4987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(monday.com, 2025; Schwaber &amp; Sutherland, 2020)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403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A3D54B-F0DE-875D-978B-DF04D227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Waterfall vs Agile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31F842E-84ED-D704-C497-A312DDBC1D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105580"/>
              </p:ext>
            </p:extLst>
          </p:nvPr>
        </p:nvGraphicFramePr>
        <p:xfrm>
          <a:off x="457200" y="1554163"/>
          <a:ext cx="11274424" cy="4668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37212">
                  <a:extLst>
                    <a:ext uri="{9D8B030D-6E8A-4147-A177-3AD203B41FA5}">
                      <a16:colId xmlns:a16="http://schemas.microsoft.com/office/drawing/2014/main" val="1666330073"/>
                    </a:ext>
                  </a:extLst>
                </a:gridCol>
                <a:gridCol w="5637212">
                  <a:extLst>
                    <a:ext uri="{9D8B030D-6E8A-4147-A177-3AD203B41FA5}">
                      <a16:colId xmlns:a16="http://schemas.microsoft.com/office/drawing/2014/main" val="1967160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Waterfall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Agile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55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Plan upfront</a:t>
                      </a:r>
                      <a:r>
                        <a:rPr lang="en-US"/>
                        <a:t> – Requirements, design, development, and testing are planned before implementation begins.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Plan and adapt</a:t>
                      </a:r>
                      <a:r>
                        <a:rPr lang="en-US"/>
                        <a:t> – Work is planned incrementally and adjusted as priorities change.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6849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Follow the plan</a:t>
                      </a:r>
                      <a:r>
                        <a:rPr lang="en-US" dirty="0"/>
                        <a:t> – Changes can require formal approval and may create significant rework.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Embrace change</a:t>
                      </a:r>
                      <a:r>
                        <a:rPr lang="en-US"/>
                        <a:t> – Priorities can be changed by swapping stories in or out of the backlog or Sprint.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1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Sequential SDLC</a:t>
                      </a:r>
                      <a:r>
                        <a:rPr lang="en-US" dirty="0"/>
                        <a:t> – Requirements → Design → Development → Testing → Deployment.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Iterative SDLC</a:t>
                      </a:r>
                      <a:r>
                        <a:rPr lang="en-US"/>
                        <a:t> – Requirements, development, testing, and feedback happen continuously across Sprints.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499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Test later</a:t>
                      </a:r>
                      <a:r>
                        <a:rPr lang="en-US" dirty="0"/>
                        <a:t> – Testing generally occurs after development is completed.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Test continuously</a:t>
                      </a:r>
                      <a:r>
                        <a:rPr lang="en-US"/>
                        <a:t> – Developers and Testers work together throughout development to catch issues early.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927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Fixed scope and deliverables</a:t>
                      </a:r>
                      <a:r>
                        <a:rPr lang="en-US" dirty="0"/>
                        <a:t> – Success is measured against completing the original project plan.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Customer value and working product</a:t>
                      </a:r>
                      <a:r>
                        <a:rPr lang="en-US" dirty="0"/>
                        <a:t> – Prioritize the highest-value work and deliver usable functionality incrementally.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600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186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F85D8-BAB7-A4D8-3E0E-B74D5642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DE4506-0119-E664-A4C4-791B909A23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Right Choice? Agile vs. Waterfall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940433-1DDF-F7FE-CEEB-B5EBC32A85DD}"/>
              </a:ext>
            </a:extLst>
          </p:cNvPr>
          <p:cNvSpPr txBox="1"/>
          <p:nvPr/>
        </p:nvSpPr>
        <p:spPr>
          <a:xfrm>
            <a:off x="4582886" y="1458686"/>
            <a:ext cx="6781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Stability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Fixed, well-understood requirements suit Waterfall’s step-by-step plan; changing requirements favor </a:t>
            </a:r>
            <a:r>
              <a:rPr lang="en-US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Agile's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iterations.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Involvement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stakeholder feedback fits </a:t>
            </a:r>
            <a:r>
              <a:rPr lang="en-US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Agile's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review cycles far better than a single sign-off at the end of the project.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Flexibility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end product may change direction,  </a:t>
            </a:r>
            <a:r>
              <a:rPr lang="en-US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Agile's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backlog absorbs change without restarting the project, and items can be worked on without halting other portions of the project.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Risk Tolerance</a:t>
            </a:r>
            <a:endParaRPr lang="en-US" b="1" dirty="0">
              <a:solidFill>
                <a:schemeClr val="accent1"/>
              </a:solidFill>
              <a:latin typeface="+mj-lt"/>
            </a:endParaRPr>
          </a:p>
          <a:p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is great for a fixed-scope or compliance-driven work. Agile reduces risk when schedules and priorities may shift.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  <a:latin typeface="+mj-lt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04A0E-C08E-B0E0-3CB6-6504D6694DA6}"/>
              </a:ext>
            </a:extLst>
          </p:cNvPr>
          <p:cNvSpPr txBox="1"/>
          <p:nvPr/>
        </p:nvSpPr>
        <p:spPr>
          <a:xfrm>
            <a:off x="707571" y="6474371"/>
            <a:ext cx="3675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6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(Cobb, 2023; Mishra &amp; Alzoubi, 2023)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87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8DF68-0342-83AB-DCBA-1D91B9BD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B2CC2-FE7F-E8F1-F90A-63327A101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Cobb, C. G. (2023). The project manager’s guide to mastering agile: Principles and practices for an adaptive approach (2nd ed.). Wiley.</a:t>
            </a:r>
            <a:endParaRPr lang="en-US" dirty="0">
              <a:solidFill>
                <a:schemeClr val="accent1"/>
              </a:solidFill>
            </a:endParaRPr>
          </a:p>
          <a:p>
            <a:pPr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Kadenic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M. D., Pacheco, D. A. de J., Koumaditis, K., Tjørnehøj, G., &amp; Tambo, T. (2023). Investigating the role of Product Owner in Scrum teams: Differentiation between </a:t>
            </a:r>
            <a:r>
              <a:rPr lang="en-US" dirty="0" err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individual impacts and opportunities. The Journal of Systems and Software, 206, Article 111841. https://doi.org/10.1016/j.jss.2023.111841</a:t>
            </a:r>
            <a:endParaRPr lang="en-US" dirty="0">
              <a:solidFill>
                <a:schemeClr val="accent1"/>
              </a:solidFill>
            </a:endParaRPr>
          </a:p>
          <a:p>
            <a:pPr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Mishra, A., &amp; Alzoubi, Y. I. (2023). Structured software development versus agile software development: A comparative analysis. International Journal of System Assurance Engineering and Management, 14(4), 1504–1522. https://doi.org/10.1007/s13198-023-01958-5</a:t>
            </a:r>
            <a:endParaRPr lang="en-US" dirty="0">
              <a:solidFill>
                <a:schemeClr val="accent1"/>
              </a:solidFill>
            </a:endParaRPr>
          </a:p>
          <a:p>
            <a:pPr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monday.com. (2025, December 15). The agile software development life cycle explained: A comprehensive guide. https://monday.com/blog/rnd/agile-sdlc/</a:t>
            </a:r>
            <a:endParaRPr lang="en-US" dirty="0">
              <a:solidFill>
                <a:schemeClr val="accent1"/>
              </a:solidFill>
            </a:endParaRPr>
          </a:p>
          <a:p>
            <a:pPr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K., &amp; Sutherland, J. (2020). The Scrum guide: The definitive guide to Scrum: The rules of the game. Scrum.org. https://scrumguides.org/scrum-guide.html</a:t>
            </a:r>
            <a:endParaRPr lang="en-US" dirty="0">
              <a:solidFill>
                <a:schemeClr val="accent1"/>
              </a:solidFill>
            </a:endParaRPr>
          </a:p>
          <a:p>
            <a:pPr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B4F5D-1152-59AD-0B77-4C9EAD400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78745"/>
      </p:ext>
    </p:extLst>
  </p:cSld>
  <p:clrMapOvr>
    <a:masterClrMapping/>
  </p:clrMapOvr>
</p:sld>
</file>

<file path=ppt/theme/theme1.xml><?xml version="1.0" encoding="utf-8"?>
<a:theme xmlns:a="http://schemas.openxmlformats.org/drawingml/2006/main" name="Roman fresco">
  <a:themeElements>
    <a:clrScheme name="Roman Fresco">
      <a:dk1>
        <a:srgbClr val="000000"/>
      </a:dk1>
      <a:lt1>
        <a:srgbClr val="FFFFFF"/>
      </a:lt1>
      <a:dk2>
        <a:srgbClr val="000221"/>
      </a:dk2>
      <a:lt2>
        <a:srgbClr val="F3ECE1"/>
      </a:lt2>
      <a:accent1>
        <a:srgbClr val="11338A"/>
      </a:accent1>
      <a:accent2>
        <a:srgbClr val="E6B916"/>
      </a:accent2>
      <a:accent3>
        <a:srgbClr val="11338A"/>
      </a:accent3>
      <a:accent4>
        <a:srgbClr val="B9D2DF"/>
      </a:accent4>
      <a:accent5>
        <a:srgbClr val="412D2B"/>
      </a:accent5>
      <a:accent6>
        <a:srgbClr val="DB4C3F"/>
      </a:accent6>
      <a:hlink>
        <a:srgbClr val="467886"/>
      </a:hlink>
      <a:folHlink>
        <a:srgbClr val="96607D"/>
      </a:folHlink>
    </a:clrScheme>
    <a:fontScheme name="Custom 81">
      <a:majorFont>
        <a:latin typeface="Urdu Typesetting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oman Fresco_win32_EF_v3" id="{0AF11A7C-A41D-41B6-B350-8E2BC476B03D}" vid="{259414C7-5EB5-4AA2-A628-750D76F236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8BD2F9-1572-4D37-B8FD-8AA9FD060A8C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8F5451F-E621-486E-8A64-50FEB3855E59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CC0A7E9-1715-433B-8855-F7DBB272AEE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{395A6245-EA4F-4F8E-8077-15804B28B2E0}331dd956-868b-498c-ac85-8754876205c5-TF91c547f1-df9a-4c72-b625-a0a7ba9e0dab_win32</Template>
  <TotalTime>19</TotalTime>
  <Words>723</Words>
  <Application>Microsoft Office PowerPoint</Application>
  <PresentationFormat>Widescreen</PresentationFormat>
  <Paragraphs>69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Cambria</vt:lpstr>
      <vt:lpstr>Univers Light</vt:lpstr>
      <vt:lpstr>Urdu Typesetting</vt:lpstr>
      <vt:lpstr>Roman fresco</vt:lpstr>
      <vt:lpstr>Agile Transformation</vt:lpstr>
      <vt:lpstr>PowerPoint Presentation</vt:lpstr>
      <vt:lpstr>PowerPoint Presentation</vt:lpstr>
      <vt:lpstr>Waterfall vs Agile 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Kaitlyn O'Connell</dc:creator>
  <cp:lastModifiedBy>Kaitlyn O'Connell</cp:lastModifiedBy>
  <cp:revision>1</cp:revision>
  <dcterms:created xsi:type="dcterms:W3CDTF">2026-08-24T04:01:13Z</dcterms:created>
  <dcterms:modified xsi:type="dcterms:W3CDTF">2026-08-24T04:20:33Z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